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85" r:id="rId5"/>
    <p:sldId id="284" r:id="rId6"/>
    <p:sldId id="288" r:id="rId7"/>
    <p:sldId id="287" r:id="rId8"/>
    <p:sldId id="300" r:id="rId9"/>
    <p:sldId id="292" r:id="rId10"/>
    <p:sldId id="293" r:id="rId11"/>
    <p:sldId id="294" r:id="rId12"/>
    <p:sldId id="295" r:id="rId13"/>
    <p:sldId id="301" r:id="rId14"/>
    <p:sldId id="296" r:id="rId15"/>
    <p:sldId id="268" r:id="rId16"/>
    <p:sldId id="269" r:id="rId17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D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44" autoAdjust="0"/>
    <p:restoredTop sz="94660"/>
  </p:normalViewPr>
  <p:slideViewPr>
    <p:cSldViewPr>
      <p:cViewPr>
        <p:scale>
          <a:sx n="67" d="100"/>
          <a:sy n="67" d="100"/>
        </p:scale>
        <p:origin x="2006" y="22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730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png"/><Relationship Id="rId7" Type="http://schemas.microsoft.com/office/2007/relationships/hdphoto" Target="../media/hdphoto2.wdp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microsoft.com/office/2007/relationships/hdphoto" Target="../media/hdphoto3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microsoft.com/office/2007/relationships/hdphoto" Target="../media/hdphoto5.wdp"/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12" Type="http://schemas.openxmlformats.org/officeDocument/2006/relationships/image" Target="../media/image2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microsoft.com/office/2007/relationships/hdphoto" Target="../media/hdphoto4.wdp"/><Relationship Id="rId5" Type="http://schemas.openxmlformats.org/officeDocument/2006/relationships/image" Target="../media/image8.png"/><Relationship Id="rId10" Type="http://schemas.openxmlformats.org/officeDocument/2006/relationships/image" Target="../media/image20.png"/><Relationship Id="rId4" Type="http://schemas.openxmlformats.org/officeDocument/2006/relationships/image" Target="../media/image2.png"/><Relationship Id="rId9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7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microsoft.com/office/2007/relationships/hdphoto" Target="../media/hdphoto7.wdp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65624" y="1197215"/>
            <a:ext cx="7467599" cy="107337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Systems Cornerstone Project</a:t>
            </a: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Review (Review I &amp; II</a:t>
            </a:r>
            <a:r>
              <a:rPr lang="en-IN" sz="22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53494" y="2514600"/>
            <a:ext cx="8751412" cy="288668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  <a:spcAft>
                <a:spcPts val="1200"/>
              </a:spcAft>
            </a:pPr>
            <a:r>
              <a:rPr sz="2200" b="1" dirty="0">
                <a:solidFill>
                  <a:srgbClr val="DA5B0E"/>
                </a:solidFill>
                <a:latin typeface="Times New Roman"/>
              </a:rPr>
              <a:t>ONLINE SHOPPING SYSTEM</a:t>
            </a:r>
          </a:p>
          <a:p>
            <a:pPr algn="ctr">
              <a:spcAft>
                <a:spcPts val="1200"/>
              </a:spcAft>
            </a:pPr>
            <a:r>
              <a:rPr sz="1800" b="1" dirty="0">
                <a:solidFill>
                  <a:srgbClr val="262626"/>
                </a:solidFill>
                <a:latin typeface="Times New Roman"/>
              </a:rPr>
              <a:t>Presented by</a:t>
            </a:r>
          </a:p>
          <a:p>
            <a:pPr algn="ctr">
              <a:spcAft>
                <a:spcPts val="300"/>
              </a:spcAft>
            </a:pPr>
            <a:r>
              <a:rPr sz="1700" dirty="0">
                <a:solidFill>
                  <a:srgbClr val="262626"/>
                </a:solidFill>
                <a:latin typeface="Times New Roman"/>
              </a:rPr>
              <a:t>CHINTA SAHITHI (25B11AI210)</a:t>
            </a:r>
          </a:p>
          <a:p>
            <a:pPr algn="ctr">
              <a:spcAft>
                <a:spcPts val="300"/>
              </a:spcAft>
            </a:pPr>
            <a:r>
              <a:rPr sz="1700" dirty="0">
                <a:solidFill>
                  <a:srgbClr val="262626"/>
                </a:solidFill>
                <a:latin typeface="Times New Roman"/>
              </a:rPr>
              <a:t>GOLLAVILLI RESHMA APARNA (25B11AI352)</a:t>
            </a:r>
          </a:p>
          <a:p>
            <a:pPr algn="ctr">
              <a:spcAft>
                <a:spcPts val="300"/>
              </a:spcAft>
            </a:pPr>
            <a:r>
              <a:rPr sz="1500" dirty="0">
                <a:solidFill>
                  <a:srgbClr val="262626"/>
                </a:solidFill>
                <a:latin typeface="Times New Roman"/>
              </a:rPr>
              <a:t>NARLA BALA CHANDRA VEERA MANIKANTA ESWAR (25B11AI827)</a:t>
            </a:r>
          </a:p>
          <a:p>
            <a:pPr algn="ctr">
              <a:spcAft>
                <a:spcPts val="1200"/>
              </a:spcAft>
            </a:pPr>
            <a:r>
              <a:rPr sz="1700" dirty="0">
                <a:solidFill>
                  <a:srgbClr val="262626"/>
                </a:solidFill>
                <a:latin typeface="Times New Roman"/>
              </a:rPr>
              <a:t>ELLIPE SUSHANTH ABHINAY DAS (25B11AI297</a:t>
            </a:r>
            <a:r>
              <a:rPr sz="1700" dirty="0" smtClean="0">
                <a:solidFill>
                  <a:srgbClr val="262626"/>
                </a:solidFill>
                <a:latin typeface="Times New Roman"/>
              </a:rPr>
              <a:t>)</a:t>
            </a:r>
            <a:endParaRPr lang="en-US" sz="1700" dirty="0" smtClean="0">
              <a:solidFill>
                <a:srgbClr val="262626"/>
              </a:solidFill>
              <a:latin typeface="Times New Roman"/>
            </a:endParaRPr>
          </a:p>
          <a:p>
            <a:pPr algn="ctr">
              <a:spcAft>
                <a:spcPts val="1200"/>
              </a:spcAft>
            </a:pPr>
            <a:endParaRPr sz="1700" dirty="0">
              <a:solidFill>
                <a:srgbClr val="262626"/>
              </a:solidFill>
              <a:latin typeface="Times New Roman"/>
            </a:endParaRPr>
          </a:p>
          <a:p>
            <a:pPr algn="ctr">
              <a:spcAft>
                <a:spcPts val="300"/>
              </a:spcAft>
            </a:pPr>
            <a:r>
              <a:rPr sz="1600" b="1" dirty="0">
                <a:solidFill>
                  <a:srgbClr val="FF0000"/>
                </a:solidFill>
                <a:latin typeface="Times New Roman"/>
              </a:rPr>
              <a:t>Department of Artificial Intelligence &amp; Machine Learning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0000" y="1497893"/>
            <a:ext cx="4100000" cy="45871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title, objectives &amp; problem statement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entities &amp; attributes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ER diagram &amp; relationships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relational database schema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Primary &amp; Foreign Keys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GitHub repo &amp; responsibilities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creation &amp; constraints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100000" y="1497893"/>
            <a:ext cx="4100000" cy="45871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 startAt="9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sample data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 &amp; SQL queries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 database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954952" y="344896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8826DA-C0C7-3280-A179-8C72B3DEAD4E}"/>
              </a:ext>
            </a:extLst>
          </p:cNvPr>
          <p:cNvSpPr txBox="1"/>
          <p:nvPr/>
        </p:nvSpPr>
        <p:spPr>
          <a:xfrm>
            <a:off x="1600200" y="2133600"/>
            <a:ext cx="6324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4128" y="1517904"/>
            <a:ext cx="8092440" cy="1214756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2000" b="1" dirty="0">
                <a:solidFill>
                  <a:srgbClr val="DA5B0E"/>
                </a:solidFill>
                <a:latin typeface="Times New Roman"/>
              </a:rPr>
              <a:t>Project: </a:t>
            </a:r>
            <a:r>
              <a:rPr sz="2000" dirty="0">
                <a:solidFill>
                  <a:srgbClr val="262626"/>
                </a:solidFill>
                <a:latin typeface="Times New Roman"/>
              </a:rPr>
              <a:t>Online Shopping System — a relational database for e-commerce records</a:t>
            </a:r>
            <a:r>
              <a:rPr sz="2000" dirty="0" smtClean="0">
                <a:solidFill>
                  <a:srgbClr val="262626"/>
                </a:solidFill>
                <a:latin typeface="Times New Roman"/>
              </a:rPr>
              <a:t>.</a:t>
            </a:r>
            <a:endParaRPr lang="en-US" sz="2000" dirty="0" smtClean="0">
              <a:solidFill>
                <a:srgbClr val="262626"/>
              </a:solidFill>
              <a:latin typeface="Times New Roman"/>
            </a:endParaRPr>
          </a:p>
          <a:p>
            <a:pPr>
              <a:lnSpc>
                <a:spcPct val="110000"/>
              </a:lnSpc>
              <a:spcAft>
                <a:spcPts val="1600"/>
              </a:spcAft>
            </a:pPr>
            <a:endParaRPr sz="2000" dirty="0">
              <a:solidFill>
                <a:srgbClr val="262626"/>
              </a:solidFill>
              <a:latin typeface="Times New Roman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1024128" y="2433956"/>
            <a:ext cx="4767072" cy="1828800"/>
          </a:xfrm>
          <a:prstGeom prst="roundRect">
            <a:avLst>
              <a:gd name="adj" fmla="val 3000"/>
            </a:avLst>
          </a:prstGeom>
          <a:solidFill>
            <a:srgbClr val="FFF0E8"/>
          </a:solidFill>
          <a:ln w="10160">
            <a:solidFill>
              <a:srgbClr val="D7E0E7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" name="Rectangle 1"/>
          <p:cNvSpPr/>
          <p:nvPr/>
        </p:nvSpPr>
        <p:spPr>
          <a:xfrm>
            <a:off x="1219200" y="2479297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sz="1800" b="1" dirty="0" smtClean="0">
                <a:solidFill>
                  <a:srgbClr val="17324D"/>
                </a:solidFill>
              </a:rPr>
              <a:t>Problem statement</a:t>
            </a:r>
            <a:endParaRPr lang="en-US" sz="1800" dirty="0"/>
          </a:p>
        </p:txBody>
      </p:sp>
      <p:sp>
        <p:nvSpPr>
          <p:cNvPr id="3" name="Rectangle 2"/>
          <p:cNvSpPr/>
          <p:nvPr/>
        </p:nvSpPr>
        <p:spPr>
          <a:xfrm>
            <a:off x="1045636" y="2893970"/>
            <a:ext cx="50292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n-US" sz="1800" dirty="0" smtClean="0">
                <a:solidFill>
                  <a:srgbClr val="22313F"/>
                </a:solidFill>
              </a:rPr>
              <a:t>Fragmented user, seller, product, cart, order, review, and return records create duplication, inconsistent updates, weak validation, and difficult reporting.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219200" y="47244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70" dirty="0">
                <a:solidFill>
                  <a:srgbClr val="F36C21"/>
                </a:solidFill>
              </a:rPr>
              <a:t>PROJECT OBJECTIVES</a:t>
            </a:r>
            <a:endParaRPr lang="en-US" sz="1300" dirty="0"/>
          </a:p>
        </p:txBody>
      </p:sp>
      <p:sp>
        <p:nvSpPr>
          <p:cNvPr id="13" name="Rectangle 12"/>
          <p:cNvSpPr/>
          <p:nvPr/>
        </p:nvSpPr>
        <p:spPr>
          <a:xfrm>
            <a:off x="2403805" y="4616658"/>
            <a:ext cx="50292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03200" indent="-203200">
              <a:buSzPct val="100000"/>
              <a:buChar char="•"/>
            </a:pPr>
            <a:r>
              <a:rPr lang="en-US" sz="1800" dirty="0" smtClean="0">
                <a:solidFill>
                  <a:srgbClr val="22313F"/>
                </a:solidFill>
              </a:rPr>
              <a:t>Model users, sellers, categories, products, carts, orders, reviews, and returns.</a:t>
            </a:r>
            <a:endParaRPr lang="en-US" sz="1800" dirty="0" smtClean="0"/>
          </a:p>
          <a:p>
            <a:pPr marL="203200" indent="-203200">
              <a:buSzPct val="100000"/>
              <a:buChar char="•"/>
            </a:pPr>
            <a:r>
              <a:rPr lang="en-US" sz="1800" dirty="0" smtClean="0">
                <a:solidFill>
                  <a:srgbClr val="22313F"/>
                </a:solidFill>
              </a:rPr>
              <a:t>Enforce primary keys, foreign keys, uniqueness, required fields, valid ranges, and defaults.</a:t>
            </a:r>
            <a:endParaRPr lang="en-US" sz="1800" dirty="0" smtClean="0"/>
          </a:p>
          <a:p>
            <a:pPr marL="203200" indent="-203200">
              <a:buSzPct val="100000"/>
              <a:buChar char="•"/>
            </a:pPr>
            <a:r>
              <a:rPr lang="en-US" sz="1800" dirty="0" smtClean="0">
                <a:solidFill>
                  <a:srgbClr val="22313F"/>
                </a:solidFill>
              </a:rPr>
              <a:t>Demonstrate retrieval, joins, aggregates, subqueries, views, set operations, DCL, and TCL.</a:t>
            </a:r>
            <a:endParaRPr lang="en-US" sz="1800" dirty="0" smtClean="0"/>
          </a:p>
          <a:p>
            <a:pPr marL="203200" indent="-203200">
              <a:buSzPct val="100000"/>
              <a:buChar char="•"/>
            </a:pPr>
            <a:r>
              <a:rPr lang="en-US" sz="1800" dirty="0" smtClean="0">
                <a:solidFill>
                  <a:srgbClr val="22313F"/>
                </a:solidFill>
              </a:rPr>
              <a:t>Normalize the logical design and clearly record implementation gaps.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&amp; ATTRIBUTES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1749471" y="2362200"/>
            <a:ext cx="6781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4151" y="1143000"/>
            <a:ext cx="8092440" cy="6495624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 smtClean="0"/>
              <a:t>Users:</a:t>
            </a:r>
            <a:r>
              <a:rPr lang="en-IN" sz="2000" dirty="0" smtClean="0"/>
              <a:t> </a:t>
            </a:r>
            <a:r>
              <a:rPr lang="en-IN" sz="2000" dirty="0" err="1" smtClean="0"/>
              <a:t>user_id</a:t>
            </a:r>
            <a:r>
              <a:rPr lang="en-IN" sz="2000" dirty="0" smtClean="0"/>
              <a:t>, username, email, </a:t>
            </a:r>
            <a:r>
              <a:rPr lang="en-IN" sz="2000" dirty="0" err="1" smtClean="0"/>
              <a:t>password_hash</a:t>
            </a:r>
            <a:r>
              <a:rPr lang="en-IN" sz="2000" dirty="0" smtClean="0"/>
              <a:t>, </a:t>
            </a:r>
            <a:r>
              <a:rPr lang="en-IN" sz="2000" dirty="0" err="1" smtClean="0"/>
              <a:t>user_role</a:t>
            </a:r>
            <a:r>
              <a:rPr lang="en-IN" sz="2000" dirty="0" smtClean="0"/>
              <a:t>, </a:t>
            </a:r>
            <a:r>
              <a:rPr lang="en-IN" sz="2000" dirty="0" err="1" smtClean="0"/>
              <a:t>created_at</a:t>
            </a:r>
            <a:endParaRPr lang="en-IN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 smtClean="0"/>
              <a:t>Seller:</a:t>
            </a:r>
            <a:r>
              <a:rPr lang="en-IN" sz="2000" dirty="0" smtClean="0"/>
              <a:t> </a:t>
            </a:r>
            <a:r>
              <a:rPr lang="en-IN" sz="2000" dirty="0" err="1" smtClean="0"/>
              <a:t>seller_id</a:t>
            </a:r>
            <a:r>
              <a:rPr lang="en-IN" sz="2000" dirty="0" smtClean="0"/>
              <a:t>, </a:t>
            </a:r>
            <a:r>
              <a:rPr lang="en-IN" sz="2000" dirty="0" err="1" smtClean="0"/>
              <a:t>user_id</a:t>
            </a:r>
            <a:r>
              <a:rPr lang="en-IN" sz="2000" dirty="0" smtClean="0"/>
              <a:t>, </a:t>
            </a:r>
            <a:r>
              <a:rPr lang="en-IN" sz="2000" dirty="0" err="1" smtClean="0"/>
              <a:t>shop_name</a:t>
            </a:r>
            <a:r>
              <a:rPr lang="en-IN" sz="2000" dirty="0" smtClean="0"/>
              <a:t>, </a:t>
            </a:r>
            <a:r>
              <a:rPr lang="en-IN" sz="2000" dirty="0" err="1" smtClean="0"/>
              <a:t>gst_number</a:t>
            </a:r>
            <a:r>
              <a:rPr lang="en-IN" sz="2000" dirty="0" smtClean="0"/>
              <a:t>, </a:t>
            </a:r>
            <a:r>
              <a:rPr lang="en-IN" sz="2000" dirty="0" err="1" smtClean="0"/>
              <a:t>bank_account</a:t>
            </a:r>
            <a:endParaRPr lang="en-IN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 smtClean="0"/>
              <a:t>Category:</a:t>
            </a:r>
            <a:r>
              <a:rPr lang="en-IN" sz="2000" dirty="0" smtClean="0"/>
              <a:t> </a:t>
            </a:r>
            <a:r>
              <a:rPr lang="en-IN" sz="2000" dirty="0" err="1" smtClean="0"/>
              <a:t>category_id</a:t>
            </a:r>
            <a:r>
              <a:rPr lang="en-IN" sz="2000" dirty="0" smtClean="0"/>
              <a:t>, </a:t>
            </a:r>
            <a:r>
              <a:rPr lang="en-IN" sz="2000" dirty="0" err="1" smtClean="0"/>
              <a:t>category_name</a:t>
            </a:r>
            <a:endParaRPr lang="en-IN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 smtClean="0"/>
              <a:t>Product:</a:t>
            </a:r>
            <a:r>
              <a:rPr lang="en-IN" sz="2000" dirty="0" smtClean="0"/>
              <a:t> </a:t>
            </a:r>
            <a:r>
              <a:rPr lang="en-IN" sz="2000" dirty="0" err="1" smtClean="0"/>
              <a:t>product_id</a:t>
            </a:r>
            <a:r>
              <a:rPr lang="en-IN" sz="2000" dirty="0" smtClean="0"/>
              <a:t>, </a:t>
            </a:r>
            <a:r>
              <a:rPr lang="en-IN" sz="2000" dirty="0" err="1" smtClean="0"/>
              <a:t>seller_id</a:t>
            </a:r>
            <a:r>
              <a:rPr lang="en-IN" sz="2000" dirty="0" smtClean="0"/>
              <a:t>, </a:t>
            </a:r>
            <a:r>
              <a:rPr lang="en-IN" sz="2000" dirty="0" err="1" smtClean="0"/>
              <a:t>category_id</a:t>
            </a:r>
            <a:r>
              <a:rPr lang="en-IN" sz="2000" dirty="0" smtClean="0"/>
              <a:t>, </a:t>
            </a:r>
            <a:r>
              <a:rPr lang="en-IN" sz="2000" dirty="0" err="1" smtClean="0"/>
              <a:t>product_name</a:t>
            </a:r>
            <a:r>
              <a:rPr lang="en-IN" sz="2000" dirty="0" smtClean="0"/>
              <a:t>, price, discount, stock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 smtClean="0"/>
              <a:t>Cart:</a:t>
            </a:r>
            <a:r>
              <a:rPr lang="en-IN" sz="2000" dirty="0" smtClean="0"/>
              <a:t> </a:t>
            </a:r>
            <a:r>
              <a:rPr lang="en-IN" sz="2000" dirty="0" err="1" smtClean="0"/>
              <a:t>cart_id</a:t>
            </a:r>
            <a:r>
              <a:rPr lang="en-IN" sz="2000" dirty="0" smtClean="0"/>
              <a:t>, </a:t>
            </a:r>
            <a:r>
              <a:rPr lang="en-IN" sz="2000" dirty="0" err="1" smtClean="0"/>
              <a:t>user_id</a:t>
            </a:r>
            <a:r>
              <a:rPr lang="en-IN" sz="2000" dirty="0" smtClean="0"/>
              <a:t>, </a:t>
            </a:r>
            <a:r>
              <a:rPr lang="en-IN" sz="2000" dirty="0" err="1" smtClean="0"/>
              <a:t>product_id</a:t>
            </a:r>
            <a:r>
              <a:rPr lang="en-IN" sz="2000" dirty="0" smtClean="0"/>
              <a:t>, quantity, </a:t>
            </a:r>
            <a:r>
              <a:rPr lang="en-IN" sz="2000" dirty="0" err="1" smtClean="0"/>
              <a:t>added_at</a:t>
            </a:r>
            <a:endParaRPr lang="en-IN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 smtClean="0"/>
              <a:t>Orders:</a:t>
            </a:r>
            <a:r>
              <a:rPr lang="en-IN" sz="2000" dirty="0" smtClean="0"/>
              <a:t> </a:t>
            </a:r>
            <a:r>
              <a:rPr lang="en-IN" sz="2000" dirty="0" err="1" smtClean="0"/>
              <a:t>order_id</a:t>
            </a:r>
            <a:r>
              <a:rPr lang="en-IN" sz="2000" dirty="0" smtClean="0"/>
              <a:t>, </a:t>
            </a:r>
            <a:r>
              <a:rPr lang="en-IN" sz="2000" dirty="0" err="1" smtClean="0"/>
              <a:t>user_id</a:t>
            </a:r>
            <a:r>
              <a:rPr lang="en-IN" sz="2000" dirty="0" smtClean="0"/>
              <a:t>, </a:t>
            </a:r>
            <a:r>
              <a:rPr lang="en-IN" sz="2000" dirty="0" err="1" smtClean="0"/>
              <a:t>order_date</a:t>
            </a:r>
            <a:r>
              <a:rPr lang="en-IN" sz="2000" dirty="0" smtClean="0"/>
              <a:t>, </a:t>
            </a:r>
            <a:r>
              <a:rPr lang="en-IN" sz="2000" dirty="0" err="1" smtClean="0"/>
              <a:t>order_status</a:t>
            </a:r>
            <a:r>
              <a:rPr lang="en-IN" sz="2000" dirty="0" smtClean="0"/>
              <a:t>, </a:t>
            </a:r>
            <a:r>
              <a:rPr lang="en-IN" sz="2000" dirty="0" err="1" smtClean="0"/>
              <a:t>estimated_delivery</a:t>
            </a:r>
            <a:endParaRPr lang="en-IN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 smtClean="0"/>
              <a:t>Review:</a:t>
            </a:r>
            <a:r>
              <a:rPr lang="en-IN" sz="2000" dirty="0" smtClean="0"/>
              <a:t> </a:t>
            </a:r>
            <a:r>
              <a:rPr lang="en-IN" sz="2000" dirty="0" err="1" smtClean="0"/>
              <a:t>review_id</a:t>
            </a:r>
            <a:r>
              <a:rPr lang="en-IN" sz="2000" dirty="0" smtClean="0"/>
              <a:t>, </a:t>
            </a:r>
            <a:r>
              <a:rPr lang="en-IN" sz="2000" dirty="0" err="1" smtClean="0"/>
              <a:t>product_id</a:t>
            </a:r>
            <a:r>
              <a:rPr lang="en-IN" sz="2000" dirty="0" smtClean="0"/>
              <a:t>, </a:t>
            </a:r>
            <a:r>
              <a:rPr lang="en-IN" sz="2000" dirty="0" err="1" smtClean="0"/>
              <a:t>user_id</a:t>
            </a:r>
            <a:r>
              <a:rPr lang="en-IN" sz="2000" dirty="0" smtClean="0"/>
              <a:t>, rating, comment, </a:t>
            </a:r>
            <a:r>
              <a:rPr lang="en-IN" sz="2000" dirty="0" err="1" smtClean="0"/>
              <a:t>review_date</a:t>
            </a:r>
            <a:r>
              <a:rPr lang="en-IN" sz="2000" dirty="0" smtClean="0"/>
              <a:t>, </a:t>
            </a:r>
            <a:r>
              <a:rPr lang="en-IN" sz="2000" dirty="0" err="1" smtClean="0"/>
              <a:t>helpful_votes</a:t>
            </a:r>
            <a:endParaRPr lang="en-IN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 smtClean="0"/>
              <a:t>Return Request:</a:t>
            </a:r>
            <a:r>
              <a:rPr lang="en-IN" sz="2000" dirty="0" smtClean="0"/>
              <a:t> </a:t>
            </a:r>
            <a:r>
              <a:rPr lang="en-IN" sz="2000" dirty="0" err="1" smtClean="0"/>
              <a:t>return_id</a:t>
            </a:r>
            <a:r>
              <a:rPr lang="en-IN" sz="2000" dirty="0" smtClean="0"/>
              <a:t>, </a:t>
            </a:r>
            <a:r>
              <a:rPr lang="en-IN" sz="2000" dirty="0" err="1" smtClean="0"/>
              <a:t>order_id</a:t>
            </a:r>
            <a:r>
              <a:rPr lang="en-IN" sz="2000" dirty="0" smtClean="0"/>
              <a:t>, </a:t>
            </a:r>
            <a:r>
              <a:rPr lang="en-IN" sz="2000" dirty="0" err="1" smtClean="0"/>
              <a:t>user_id</a:t>
            </a:r>
            <a:r>
              <a:rPr lang="en-IN" sz="2000" dirty="0" smtClean="0"/>
              <a:t>, reason, </a:t>
            </a:r>
            <a:r>
              <a:rPr lang="en-IN" sz="2000" dirty="0" err="1" smtClean="0"/>
              <a:t>return_date</a:t>
            </a:r>
            <a:r>
              <a:rPr lang="en-IN" sz="2000" dirty="0" smtClean="0"/>
              <a:t>, status, </a:t>
            </a:r>
            <a:r>
              <a:rPr lang="en-IN" sz="2000" dirty="0" err="1" smtClean="0"/>
              <a:t>refund_amount</a:t>
            </a:r>
            <a:endParaRPr lang="en-IN" sz="2000" dirty="0" smtClean="0"/>
          </a:p>
          <a:p>
            <a:pPr marL="342900" indent="-342900">
              <a:lnSpc>
                <a:spcPct val="11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endParaRPr sz="1900" dirty="0">
              <a:solidFill>
                <a:srgbClr val="262626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27A3C-9BEC-C61B-FC8D-3B949CD89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5F0E8CC-BDB8-7C3E-7C5E-012FD1252950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DBC28A04-FC65-6F36-8766-2B93E376E26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6F9D794-31EA-8ABA-A5E3-D49E7DEF13C2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E0767A3E-73A4-9967-916C-59851FE931A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5C64E3F9-2AFD-ACC7-6183-250AF43BDF5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01E94C25-6779-8458-E95E-F4782347F2B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D4973351-D6E2-D3B8-C7AF-9344AB18D3A7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0DE1838-629A-37A8-DB28-E5CABD39B264}"/>
              </a:ext>
            </a:extLst>
          </p:cNvPr>
          <p:cNvSpPr txBox="1"/>
          <p:nvPr/>
        </p:nvSpPr>
        <p:spPr>
          <a:xfrm>
            <a:off x="41910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pic>
        <p:nvPicPr>
          <p:cNvPr id="52" name="Image 1" descr="Entity relationship diagram for the online shopping system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4631" y="1216578"/>
            <a:ext cx="9358775" cy="655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973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FF62A-28CD-1AF0-FCC9-9795D9913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882BD3-FCF2-C56E-AAE2-C4D14D585E66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3CC86148-DFF8-3451-7947-2685EE95BD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A4DF9EE2-487D-D75F-149C-A5A989F91BE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1618242D-8DDA-301B-EF8C-793435D7B31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8669F432-648C-72A6-EE1E-52C40A5BB68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1D43B590-5504-6B74-CBB0-60480CB4BBC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82876794-728A-676B-5B3B-0E4A8320CD7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5FAEAFE-5DA8-E3CC-E08A-02ABAA5C5423}"/>
              </a:ext>
            </a:extLst>
          </p:cNvPr>
          <p:cNvSpPr txBox="1"/>
          <p:nvPr/>
        </p:nvSpPr>
        <p:spPr>
          <a:xfrm>
            <a:off x="2895600" y="30480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</a:p>
        </p:txBody>
      </p:sp>
      <p:pic>
        <p:nvPicPr>
          <p:cNvPr id="13" name="Image 1" descr="Relational schema diagram for the online shopping system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90750" y="1216578"/>
            <a:ext cx="9451964" cy="6251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178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D1103-BED3-D0D1-2B32-DF462A49A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86A48A0-7630-F33A-9602-55A8C30FABC0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4D87CA1E-4756-F08E-63BD-75124D6360A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631FFF4E-3585-C131-4111-19552BFBD0ED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23462C3B-779A-ECC8-E6A0-EBE10897D9C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1C485986-3706-6533-B03D-5A8A8566EDE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C06018CA-58C0-7E2C-3046-85D5E75FDF5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48EE4812-0FE8-8F6E-37C0-C1D8649E38B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996B418-1692-861F-B2FC-D97A6A0DCECA}"/>
              </a:ext>
            </a:extLst>
          </p:cNvPr>
          <p:cNvSpPr txBox="1"/>
          <p:nvPr/>
        </p:nvSpPr>
        <p:spPr>
          <a:xfrm>
            <a:off x="3429000" y="321324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FOREIGN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KEYS</a:t>
            </a:r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319526"/>
              </p:ext>
            </p:extLst>
          </p:nvPr>
        </p:nvGraphicFramePr>
        <p:xfrm>
          <a:off x="728391" y="1216578"/>
          <a:ext cx="8823960" cy="5717628"/>
        </p:xfrm>
        <a:graphic>
          <a:graphicData uri="http://schemas.openxmlformats.org/drawingml/2006/table">
            <a:tbl>
              <a:tblPr/>
              <a:tblGrid>
                <a:gridCol w="1554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46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6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52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TABLE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8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KEY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8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FOREIGN KEY(S)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8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REFERENCES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8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2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user_id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2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Seller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seller_id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user_id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Users.user_id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2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Category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category_id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2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product_id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seller_id, category_id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Seller, Category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52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Cart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cart_id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user_id, product_id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Users, Product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52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order_id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user_id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Users.user_id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52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Review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review_id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product_id, user_id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Product, Users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352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Return_Request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return_id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order_id, user_id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Orders, Users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0185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 &amp; TEAM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1749471" y="2362200"/>
            <a:ext cx="6781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4128" y="1517904"/>
            <a:ext cx="8092440" cy="2717667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</a:pPr>
            <a:r>
              <a:rPr sz="1900" b="1" dirty="0">
                <a:solidFill>
                  <a:srgbClr val="DA5B0E"/>
                </a:solidFill>
                <a:latin typeface="Times New Roman"/>
              </a:rPr>
              <a:t>Team: </a:t>
            </a:r>
            <a:r>
              <a:rPr sz="1900" dirty="0">
                <a:solidFill>
                  <a:srgbClr val="262626"/>
                </a:solidFill>
                <a:latin typeface="Times New Roman"/>
              </a:rPr>
              <a:t>Chinta Sahithi · </a:t>
            </a:r>
            <a:r>
              <a:rPr sz="1900" dirty="0" err="1">
                <a:solidFill>
                  <a:srgbClr val="262626"/>
                </a:solidFill>
                <a:latin typeface="Times New Roman"/>
              </a:rPr>
              <a:t>Gollavilli</a:t>
            </a:r>
            <a:r>
              <a:rPr sz="190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900" dirty="0" err="1">
                <a:solidFill>
                  <a:srgbClr val="262626"/>
                </a:solidFill>
                <a:latin typeface="Times New Roman"/>
              </a:rPr>
              <a:t>Reshma</a:t>
            </a:r>
            <a:r>
              <a:rPr sz="190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900" dirty="0" err="1">
                <a:solidFill>
                  <a:srgbClr val="262626"/>
                </a:solidFill>
                <a:latin typeface="Times New Roman"/>
              </a:rPr>
              <a:t>Aparna</a:t>
            </a:r>
            <a:r>
              <a:rPr sz="1900" dirty="0">
                <a:solidFill>
                  <a:srgbClr val="262626"/>
                </a:solidFill>
                <a:latin typeface="Times New Roman"/>
              </a:rPr>
              <a:t> · </a:t>
            </a:r>
            <a:r>
              <a:rPr sz="1900" dirty="0" err="1">
                <a:solidFill>
                  <a:srgbClr val="262626"/>
                </a:solidFill>
                <a:latin typeface="Times New Roman"/>
              </a:rPr>
              <a:t>Narla</a:t>
            </a:r>
            <a:r>
              <a:rPr sz="190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900" dirty="0" err="1">
                <a:solidFill>
                  <a:srgbClr val="262626"/>
                </a:solidFill>
                <a:latin typeface="Times New Roman"/>
              </a:rPr>
              <a:t>Bala</a:t>
            </a:r>
            <a:r>
              <a:rPr sz="1900" dirty="0">
                <a:solidFill>
                  <a:srgbClr val="262626"/>
                </a:solidFill>
                <a:latin typeface="Times New Roman"/>
              </a:rPr>
              <a:t> Chandra </a:t>
            </a:r>
            <a:r>
              <a:rPr sz="1900" dirty="0" err="1">
                <a:solidFill>
                  <a:srgbClr val="262626"/>
                </a:solidFill>
                <a:latin typeface="Times New Roman"/>
              </a:rPr>
              <a:t>Veera</a:t>
            </a:r>
            <a:r>
              <a:rPr sz="190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900" dirty="0" err="1">
                <a:solidFill>
                  <a:srgbClr val="262626"/>
                </a:solidFill>
                <a:latin typeface="Times New Roman"/>
              </a:rPr>
              <a:t>Manikanta</a:t>
            </a:r>
            <a:r>
              <a:rPr sz="190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900" dirty="0" err="1">
                <a:solidFill>
                  <a:srgbClr val="262626"/>
                </a:solidFill>
                <a:latin typeface="Times New Roman"/>
              </a:rPr>
              <a:t>Eswar</a:t>
            </a:r>
            <a:r>
              <a:rPr sz="1900" dirty="0">
                <a:solidFill>
                  <a:srgbClr val="262626"/>
                </a:solidFill>
                <a:latin typeface="Times New Roman"/>
              </a:rPr>
              <a:t> · </a:t>
            </a:r>
            <a:r>
              <a:rPr sz="1900" dirty="0" err="1">
                <a:solidFill>
                  <a:srgbClr val="262626"/>
                </a:solidFill>
                <a:latin typeface="Times New Roman"/>
              </a:rPr>
              <a:t>Ellipe</a:t>
            </a:r>
            <a:r>
              <a:rPr sz="190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900" dirty="0" err="1">
                <a:solidFill>
                  <a:srgbClr val="262626"/>
                </a:solidFill>
                <a:latin typeface="Times New Roman"/>
              </a:rPr>
              <a:t>Sushanth</a:t>
            </a:r>
            <a:r>
              <a:rPr sz="190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900" dirty="0" err="1">
                <a:solidFill>
                  <a:srgbClr val="262626"/>
                </a:solidFill>
                <a:latin typeface="Times New Roman"/>
              </a:rPr>
              <a:t>Abhinay</a:t>
            </a:r>
            <a:r>
              <a:rPr sz="1900" dirty="0">
                <a:solidFill>
                  <a:srgbClr val="262626"/>
                </a:solidFill>
                <a:latin typeface="Times New Roman"/>
              </a:rPr>
              <a:t> Das.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sz="1900" b="1" dirty="0">
                <a:solidFill>
                  <a:srgbClr val="DA5B0E"/>
                </a:solidFill>
                <a:latin typeface="Times New Roman"/>
              </a:rPr>
              <a:t>Guide: </a:t>
            </a:r>
            <a:r>
              <a:rPr sz="1900" dirty="0">
                <a:solidFill>
                  <a:srgbClr val="262626"/>
                </a:solidFill>
                <a:latin typeface="Times New Roman"/>
              </a:rPr>
              <a:t>Mr. T. </a:t>
            </a:r>
            <a:r>
              <a:rPr sz="1900" dirty="0" err="1">
                <a:solidFill>
                  <a:srgbClr val="262626"/>
                </a:solidFill>
                <a:latin typeface="Times New Roman"/>
              </a:rPr>
              <a:t>Srinivasulu</a:t>
            </a:r>
            <a:r>
              <a:rPr sz="1900" dirty="0">
                <a:solidFill>
                  <a:srgbClr val="262626"/>
                </a:solidFill>
                <a:latin typeface="Times New Roman"/>
              </a:rPr>
              <a:t>, </a:t>
            </a:r>
            <a:r>
              <a:rPr sz="1900" dirty="0" err="1">
                <a:solidFill>
                  <a:srgbClr val="262626"/>
                </a:solidFill>
                <a:latin typeface="Times New Roman"/>
              </a:rPr>
              <a:t>M.Tech</a:t>
            </a:r>
            <a:r>
              <a:rPr sz="1900" dirty="0">
                <a:solidFill>
                  <a:srgbClr val="262626"/>
                </a:solidFill>
                <a:latin typeface="Times New Roman"/>
              </a:rPr>
              <a:t>, (Ph.D.), Assistant Professor.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sz="1900" b="1" dirty="0">
                <a:solidFill>
                  <a:srgbClr val="DA5B0E"/>
                </a:solidFill>
                <a:latin typeface="Times New Roman"/>
              </a:rPr>
              <a:t>Repository: </a:t>
            </a:r>
            <a:r>
              <a:rPr lang="en-IN" sz="1900" b="1" dirty="0" smtClean="0">
                <a:solidFill>
                  <a:srgbClr val="DA5B0E"/>
                </a:solidFill>
                <a:latin typeface="Times New Roman"/>
              </a:rPr>
              <a:t>https://github.com/sahithichinta45-dotcom/ONLINE-SHOPPING-SYSTEM</a:t>
            </a:r>
            <a:endParaRPr sz="1900" dirty="0">
              <a:solidFill>
                <a:srgbClr val="262626"/>
              </a:solidFill>
              <a:latin typeface="Times New Roman"/>
            </a:endParaRP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sz="1900" b="1" dirty="0">
                <a:solidFill>
                  <a:srgbClr val="DA5B0E"/>
                </a:solidFill>
                <a:latin typeface="Times New Roman"/>
              </a:rPr>
              <a:t>Responsibilities: </a:t>
            </a:r>
            <a:endParaRPr sz="1900" dirty="0">
              <a:solidFill>
                <a:srgbClr val="262626"/>
              </a:solidFill>
              <a:latin typeface="Times New Roman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650367"/>
              </p:ext>
            </p:extLst>
          </p:nvPr>
        </p:nvGraphicFramePr>
        <p:xfrm>
          <a:off x="1219200" y="4470155"/>
          <a:ext cx="7467600" cy="25941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500504226"/>
                    </a:ext>
                  </a:extLst>
                </a:gridCol>
                <a:gridCol w="1996440">
                  <a:extLst>
                    <a:ext uri="{9D8B030D-6E8A-4147-A177-3AD203B41FA5}">
                      <a16:colId xmlns:a16="http://schemas.microsoft.com/office/drawing/2014/main" val="2571444162"/>
                    </a:ext>
                  </a:extLst>
                </a:gridCol>
                <a:gridCol w="1493520">
                  <a:extLst>
                    <a:ext uri="{9D8B030D-6E8A-4147-A177-3AD203B41FA5}">
                      <a16:colId xmlns:a16="http://schemas.microsoft.com/office/drawing/2014/main" val="1065822577"/>
                    </a:ext>
                  </a:extLst>
                </a:gridCol>
                <a:gridCol w="1493520">
                  <a:extLst>
                    <a:ext uri="{9D8B030D-6E8A-4147-A177-3AD203B41FA5}">
                      <a16:colId xmlns:a16="http://schemas.microsoft.com/office/drawing/2014/main" val="4125665210"/>
                    </a:ext>
                  </a:extLst>
                </a:gridCol>
                <a:gridCol w="1493520">
                  <a:extLst>
                    <a:ext uri="{9D8B030D-6E8A-4147-A177-3AD203B41FA5}">
                      <a16:colId xmlns:a16="http://schemas.microsoft.com/office/drawing/2014/main" val="771133152"/>
                    </a:ext>
                  </a:extLst>
                </a:gridCol>
              </a:tblGrid>
              <a:tr h="1813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S.No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Student Name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Roll Number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Role / Responsibility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 Contribution status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7255388"/>
                  </a:ext>
                </a:extLst>
              </a:tr>
              <a:tr h="68055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CHINTA SAHITHI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25B11AI210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ONLINE SHOPPING SYSTEM DATABASE DESIGN &amp; DDL SCRIPTING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COMPLETED </a:t>
                      </a:r>
                      <a:endParaRPr lang="en-IN" sz="12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(100%)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68735104"/>
                  </a:ext>
                </a:extLst>
              </a:tr>
              <a:tr h="68055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GOLLAVILLI RESHMA APARNA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25B11AI352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DML DATA POPULATION &amp; ENTITY RECORD MANAGEMENT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COMPLETED </a:t>
                      </a:r>
                      <a:endParaRPr lang="en-IN" sz="12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(100%)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91428212"/>
                  </a:ext>
                </a:extLst>
              </a:tr>
              <a:tr h="50767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NARLA BALA CHANDRA VEERA MANIKANTA ESWAR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25B11AI827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SQL QUERIES,JOINS &amp; SUBQUERIES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COMPLETED </a:t>
                      </a:r>
                      <a:endParaRPr lang="en-IN" sz="12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(100%)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61532057"/>
                  </a:ext>
                </a:extLst>
              </a:tr>
              <a:tr h="5440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ELLIPE SUSHANTH ABHINAY DAS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25B11AI297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VIEWS,AGGREGATIONS,TESTING &amp; QUERY ANALYSIS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COMPLETED </a:t>
                      </a:r>
                      <a:endParaRPr lang="en-IN" sz="12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(100%)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91856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CONSTRAINTS</a:t>
            </a:r>
          </a:p>
        </p:txBody>
      </p:sp>
      <p:sp>
        <p:nvSpPr>
          <p:cNvPr id="12" name="Shape 7"/>
          <p:cNvSpPr/>
          <p:nvPr/>
        </p:nvSpPr>
        <p:spPr>
          <a:xfrm>
            <a:off x="502920" y="1371600"/>
            <a:ext cx="3931920" cy="1143000"/>
          </a:xfrm>
          <a:prstGeom prst="roundRect">
            <a:avLst>
              <a:gd name="adj" fmla="val 4800"/>
            </a:avLst>
          </a:prstGeom>
          <a:solidFill>
            <a:srgbClr val="EAF3F8"/>
          </a:solidFill>
          <a:ln w="10160">
            <a:solidFill>
              <a:srgbClr val="D7E0E7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502920" y="1371600"/>
            <a:ext cx="73152" cy="1143000"/>
          </a:xfrm>
          <a:prstGeom prst="rect">
            <a:avLst/>
          </a:prstGeom>
          <a:solidFill>
            <a:srgbClr val="168C86"/>
          </a:solidFill>
          <a:ln w="12700">
            <a:solidFill>
              <a:srgbClr val="168C8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04088" y="1517904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PRIMARY KEY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704088" y="1847088"/>
            <a:ext cx="35844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2313F"/>
                </a:solidFill>
              </a:rPr>
              <a:t>All 8 tables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313F"/>
                </a:solidFill>
              </a:rPr>
              <a:t>Unique row identity</a:t>
            </a:r>
            <a:endParaRPr lang="en-US" sz="1150" dirty="0"/>
          </a:p>
        </p:txBody>
      </p:sp>
      <p:sp>
        <p:nvSpPr>
          <p:cNvPr id="19" name="Shape 11"/>
          <p:cNvSpPr/>
          <p:nvPr/>
        </p:nvSpPr>
        <p:spPr>
          <a:xfrm>
            <a:off x="4800600" y="1371600"/>
            <a:ext cx="3931920" cy="1143000"/>
          </a:xfrm>
          <a:prstGeom prst="roundRect">
            <a:avLst>
              <a:gd name="adj" fmla="val 4800"/>
            </a:avLst>
          </a:prstGeom>
          <a:solidFill>
            <a:srgbClr val="FFF0E8"/>
          </a:solidFill>
          <a:ln w="10160">
            <a:solidFill>
              <a:srgbClr val="D7E0E7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4800600" y="1371600"/>
            <a:ext cx="73152" cy="1143000"/>
          </a:xfrm>
          <a:prstGeom prst="rect">
            <a:avLst/>
          </a:prstGeom>
          <a:solidFill>
            <a:srgbClr val="F36C21"/>
          </a:solidFill>
          <a:ln w="12700">
            <a:solidFill>
              <a:srgbClr val="F36C21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5001768" y="1517904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UNIQUE</a:t>
            </a:r>
            <a:endParaRPr lang="en-US" sz="1500" dirty="0"/>
          </a:p>
        </p:txBody>
      </p:sp>
      <p:sp>
        <p:nvSpPr>
          <p:cNvPr id="22" name="Text 14"/>
          <p:cNvSpPr/>
          <p:nvPr/>
        </p:nvSpPr>
        <p:spPr>
          <a:xfrm>
            <a:off x="5001768" y="1847088"/>
            <a:ext cx="35844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2313F"/>
                </a:solidFill>
              </a:rPr>
              <a:t>User identity, seller identity, category name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313F"/>
                </a:solidFill>
              </a:rPr>
              <a:t>Prevent duplicates</a:t>
            </a:r>
            <a:endParaRPr lang="en-US" sz="1150" dirty="0"/>
          </a:p>
        </p:txBody>
      </p:sp>
      <p:sp>
        <p:nvSpPr>
          <p:cNvPr id="23" name="Shape 15"/>
          <p:cNvSpPr/>
          <p:nvPr/>
        </p:nvSpPr>
        <p:spPr>
          <a:xfrm>
            <a:off x="502920" y="2816352"/>
            <a:ext cx="3931920" cy="1143000"/>
          </a:xfrm>
          <a:prstGeom prst="roundRect">
            <a:avLst>
              <a:gd name="adj" fmla="val 4800"/>
            </a:avLst>
          </a:prstGeom>
          <a:solidFill>
            <a:srgbClr val="EAF3F8"/>
          </a:solidFill>
          <a:ln w="10160">
            <a:solidFill>
              <a:srgbClr val="D7E0E7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502920" y="2816352"/>
            <a:ext cx="73152" cy="1143000"/>
          </a:xfrm>
          <a:prstGeom prst="rect">
            <a:avLst/>
          </a:prstGeom>
          <a:solidFill>
            <a:srgbClr val="168C86"/>
          </a:solidFill>
          <a:ln w="12700">
            <a:solidFill>
              <a:srgbClr val="168C86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704088" y="2962656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FOREIGN KEY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704088" y="3291840"/>
            <a:ext cx="35844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2313F"/>
                </a:solidFill>
              </a:rPr>
              <a:t>Seller, Product, Cart, Orders, Review, Return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313F"/>
                </a:solidFill>
              </a:rPr>
              <a:t>Prevent orphan records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4800600" y="2816352"/>
            <a:ext cx="3931920" cy="1143000"/>
          </a:xfrm>
          <a:prstGeom prst="roundRect">
            <a:avLst>
              <a:gd name="adj" fmla="val 4800"/>
            </a:avLst>
          </a:prstGeom>
          <a:solidFill>
            <a:srgbClr val="FFF0E8"/>
          </a:solidFill>
          <a:ln w="10160">
            <a:solidFill>
              <a:srgbClr val="D7E0E7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4800600" y="2816352"/>
            <a:ext cx="73152" cy="1143000"/>
          </a:xfrm>
          <a:prstGeom prst="rect">
            <a:avLst/>
          </a:prstGeom>
          <a:solidFill>
            <a:srgbClr val="F36C21"/>
          </a:solidFill>
          <a:ln w="12700">
            <a:solidFill>
              <a:srgbClr val="F36C21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5001768" y="2962656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CHECK</a:t>
            </a:r>
            <a:endParaRPr lang="en-US" sz="1500" dirty="0"/>
          </a:p>
        </p:txBody>
      </p:sp>
      <p:sp>
        <p:nvSpPr>
          <p:cNvPr id="30" name="Text 22"/>
          <p:cNvSpPr/>
          <p:nvPr/>
        </p:nvSpPr>
        <p:spPr>
          <a:xfrm>
            <a:off x="5001768" y="3291840"/>
            <a:ext cx="35844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2313F"/>
                </a:solidFill>
              </a:rPr>
              <a:t>price ≥ 0 · quantity &gt; 0 · rating 1–5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313F"/>
                </a:solidFill>
              </a:rPr>
              <a:t>Reject invalid values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502920" y="4261104"/>
            <a:ext cx="3931920" cy="1143000"/>
          </a:xfrm>
          <a:prstGeom prst="roundRect">
            <a:avLst>
              <a:gd name="adj" fmla="val 4800"/>
            </a:avLst>
          </a:prstGeom>
          <a:solidFill>
            <a:srgbClr val="EAF3F8"/>
          </a:solidFill>
          <a:ln w="10160">
            <a:solidFill>
              <a:srgbClr val="D7E0E7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502920" y="4261104"/>
            <a:ext cx="73152" cy="1143000"/>
          </a:xfrm>
          <a:prstGeom prst="rect">
            <a:avLst/>
          </a:prstGeom>
          <a:solidFill>
            <a:srgbClr val="168C86"/>
          </a:solidFill>
          <a:ln w="12700">
            <a:solidFill>
              <a:srgbClr val="168C86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704088" y="4407408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DEFAULT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704088" y="4736592"/>
            <a:ext cx="35844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2313F"/>
                </a:solidFill>
              </a:rPr>
              <a:t>roles, dates, stock, status, votes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313F"/>
                </a:solidFill>
              </a:rPr>
              <a:t>Supply safe starting values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4800600" y="4261104"/>
            <a:ext cx="3931920" cy="1143000"/>
          </a:xfrm>
          <a:prstGeom prst="roundRect">
            <a:avLst>
              <a:gd name="adj" fmla="val 4800"/>
            </a:avLst>
          </a:prstGeom>
          <a:solidFill>
            <a:srgbClr val="FFF0E8"/>
          </a:solidFill>
          <a:ln w="10160">
            <a:solidFill>
              <a:srgbClr val="D7E0E7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4800600" y="4261104"/>
            <a:ext cx="73152" cy="1143000"/>
          </a:xfrm>
          <a:prstGeom prst="rect">
            <a:avLst/>
          </a:prstGeom>
          <a:solidFill>
            <a:srgbClr val="F36C21"/>
          </a:solidFill>
          <a:ln w="12700">
            <a:solidFill>
              <a:srgbClr val="F36C21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5001768" y="4407408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COMPOSITE UNIQUE</a:t>
            </a:r>
            <a:endParaRPr lang="en-US" sz="1500" dirty="0"/>
          </a:p>
        </p:txBody>
      </p:sp>
      <p:sp>
        <p:nvSpPr>
          <p:cNvPr id="38" name="Text 30"/>
          <p:cNvSpPr/>
          <p:nvPr/>
        </p:nvSpPr>
        <p:spPr>
          <a:xfrm>
            <a:off x="5001768" y="4736592"/>
            <a:ext cx="35844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2313F"/>
                </a:solidFill>
              </a:rPr>
              <a:t>Cart(user, product) · Review(product, user)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313F"/>
                </a:solidFill>
              </a:rPr>
              <a:t>Prevent repeated relationships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258262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588419" y="74452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DATA INSERTION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1749471" y="2362200"/>
            <a:ext cx="6781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3400" y="1520864"/>
            <a:ext cx="9363966" cy="3297826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10000"/>
              </a:lnSpc>
              <a:spcAft>
                <a:spcPts val="1600"/>
              </a:spcAft>
            </a:pP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Sample records inserted into the User table.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endParaRPr lang="en-US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Aft>
                <a:spcPts val="1600"/>
              </a:spcAft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Aft>
                <a:spcPts val="1600"/>
              </a:spcAft>
            </a:pPr>
            <a:endParaRPr lang="en-I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lang="en-US" sz="1600" dirty="0" smtClean="0">
                <a:solidFill>
                  <a:srgbClr val="262626"/>
                </a:solidFill>
                <a:latin typeface="Times New Roman"/>
              </a:rPr>
              <a:t>Query: SELECT </a:t>
            </a:r>
            <a:r>
              <a:rPr lang="en-US" sz="1600" dirty="0" err="1" smtClean="0">
                <a:solidFill>
                  <a:srgbClr val="262626"/>
                </a:solidFill>
                <a:latin typeface="Times New Roman"/>
              </a:rPr>
              <a:t>user_id</a:t>
            </a:r>
            <a:r>
              <a:rPr lang="en-US" sz="1600" dirty="0" smtClean="0">
                <a:solidFill>
                  <a:srgbClr val="262626"/>
                </a:solidFill>
                <a:latin typeface="Times New Roman"/>
              </a:rPr>
              <a:t>, username, email, </a:t>
            </a:r>
            <a:r>
              <a:rPr lang="en-US" sz="1600" dirty="0" err="1" smtClean="0">
                <a:solidFill>
                  <a:srgbClr val="262626"/>
                </a:solidFill>
                <a:latin typeface="Times New Roman"/>
              </a:rPr>
              <a:t>user_role</a:t>
            </a:r>
            <a:r>
              <a:rPr lang="en-US" sz="1600" dirty="0" smtClean="0">
                <a:solidFill>
                  <a:srgbClr val="262626"/>
                </a:solidFill>
                <a:latin typeface="Times New Roman"/>
              </a:rPr>
              <a:t>, </a:t>
            </a:r>
            <a:r>
              <a:rPr lang="en-US" sz="1600" dirty="0" err="1" smtClean="0">
                <a:solidFill>
                  <a:srgbClr val="262626"/>
                </a:solidFill>
                <a:latin typeface="Times New Roman"/>
              </a:rPr>
              <a:t>created_at</a:t>
            </a:r>
            <a:endParaRPr lang="en-US" sz="1600" dirty="0" smtClean="0">
              <a:solidFill>
                <a:srgbClr val="262626"/>
              </a:solidFill>
              <a:latin typeface="Times New Roman"/>
            </a:endParaRP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lang="en-US" sz="1400" dirty="0" smtClean="0">
                <a:solidFill>
                  <a:srgbClr val="262626"/>
                </a:solidFill>
                <a:latin typeface="Times New Roman"/>
              </a:rPr>
              <a:t>               FROM Users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lang="en-US" sz="140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lang="en-US" sz="1400" dirty="0" smtClean="0">
                <a:solidFill>
                  <a:srgbClr val="262626"/>
                </a:solidFill>
                <a:latin typeface="Times New Roman"/>
              </a:rPr>
              <a:t>             </a:t>
            </a:r>
            <a:r>
              <a:rPr lang="en-US" sz="1400" dirty="0" smtClean="0">
                <a:solidFill>
                  <a:srgbClr val="262626"/>
                </a:solidFill>
                <a:latin typeface="Times New Roman"/>
              </a:rPr>
              <a:t>ORDER BY </a:t>
            </a:r>
            <a:r>
              <a:rPr lang="en-US" sz="1400" dirty="0" err="1" smtClean="0">
                <a:solidFill>
                  <a:srgbClr val="262626"/>
                </a:solidFill>
                <a:latin typeface="Times New Roman"/>
              </a:rPr>
              <a:t>user_id</a:t>
            </a:r>
            <a:r>
              <a:rPr lang="en-US" sz="1900" dirty="0" smtClean="0">
                <a:solidFill>
                  <a:srgbClr val="262626"/>
                </a:solidFill>
                <a:latin typeface="Times New Roman"/>
              </a:rPr>
              <a:t>;</a:t>
            </a:r>
            <a:endParaRPr sz="1900" dirty="0">
              <a:solidFill>
                <a:srgbClr val="262626"/>
              </a:solidFill>
              <a:latin typeface="Times New Roman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4876800"/>
            <a:ext cx="9363966" cy="18288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6800" y="1981200"/>
            <a:ext cx="7315199" cy="1432449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</p:pic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1749471" y="2362200"/>
            <a:ext cx="6781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6709" y="897559"/>
            <a:ext cx="2710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User [ DDL ]: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52762" y="1427521"/>
            <a:ext cx="5319221" cy="1196444"/>
          </a:xfrm>
          <a:prstGeom prst="rect">
            <a:avLst/>
          </a:prstGeom>
          <a:solidFill>
            <a:srgbClr val="D0D0FF"/>
          </a:solidFill>
        </p:spPr>
      </p:pic>
      <p:sp>
        <p:nvSpPr>
          <p:cNvPr id="11" name="Rectangle 10"/>
          <p:cNvSpPr/>
          <p:nvPr/>
        </p:nvSpPr>
        <p:spPr>
          <a:xfrm>
            <a:off x="746709" y="2639199"/>
            <a:ext cx="28071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Product [ DML ]: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57777" y="3033642"/>
            <a:ext cx="5563082" cy="87637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46709" y="4324718"/>
            <a:ext cx="33586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 query for Product [ DQL ]: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0564" y="5410200"/>
            <a:ext cx="9006891" cy="167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 &amp; SQL QUERIES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1749471" y="2362200"/>
            <a:ext cx="6781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4128" y="1517904"/>
            <a:ext cx="8092440" cy="316818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10000"/>
              </a:lnSpc>
              <a:spcAft>
                <a:spcPts val="1600"/>
              </a:spcAft>
            </a:pPr>
            <a:endParaRPr sz="1900" dirty="0">
              <a:solidFill>
                <a:srgbClr val="262626"/>
              </a:solidFill>
              <a:latin typeface="Times New Roman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884" y="2988437"/>
            <a:ext cx="8450973" cy="52153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379" y="3576366"/>
            <a:ext cx="8450973" cy="115572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777" y="4836808"/>
            <a:ext cx="8450974" cy="67001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0777" y="5581202"/>
            <a:ext cx="8417444" cy="112087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0338" y="967298"/>
            <a:ext cx="5624047" cy="197421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71646" y="1000999"/>
            <a:ext cx="1885362" cy="172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7069" y="1319074"/>
            <a:ext cx="2780931" cy="2322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4322" y="4158448"/>
            <a:ext cx="2780931" cy="19412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04800" y="813618"/>
            <a:ext cx="47919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Combine data from related tables using 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JOIN.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7005" y="3641324"/>
            <a:ext cx="9220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calculates the total value of all products currently in stock </a:t>
            </a:r>
            <a:r>
              <a:rPr lang="en-IN" sz="1600" dirty="0" smtClean="0"/>
              <a:t>using </a:t>
            </a:r>
            <a:r>
              <a:rPr lang="en-IN" sz="1600" b="1" dirty="0" smtClean="0">
                <a:latin typeface="Courier New" panose="02070309020205020404" pitchFamily="49" charset="0"/>
              </a:rPr>
              <a:t>SUM()</a:t>
            </a:r>
            <a:r>
              <a:rPr lang="en-IN" sz="1600" b="1" dirty="0" smtClean="0"/>
              <a:t> and </a:t>
            </a:r>
            <a:r>
              <a:rPr lang="en-IN" sz="1600" b="1" dirty="0" smtClean="0">
                <a:latin typeface="Courier New" panose="02070309020205020404" pitchFamily="49" charset="0"/>
              </a:rPr>
              <a:t>GROUP BY</a:t>
            </a:r>
            <a:r>
              <a:rPr lang="en-IN" sz="1600" b="1" dirty="0" smtClean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86102" y="1319074"/>
            <a:ext cx="6857998" cy="180512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1" y="4493371"/>
            <a:ext cx="6934200" cy="97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867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087368" y="444890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1749471" y="2362200"/>
            <a:ext cx="6781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6578"/>
            <a:ext cx="10058400" cy="440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BB4592-5775-79D7-4F02-0BE4F7025B51}"/>
              </a:ext>
            </a:extLst>
          </p:cNvPr>
          <p:cNvSpPr txBox="1"/>
          <p:nvPr/>
        </p:nvSpPr>
        <p:spPr>
          <a:xfrm>
            <a:off x="998002" y="1575174"/>
            <a:ext cx="8574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F513CBE2-66AF-A982-0CC5-B24C79BA9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4128" y="1508760"/>
            <a:ext cx="8092440" cy="332463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lnSpc>
                <a:spcPct val="110000"/>
              </a:lnSpc>
              <a:spcAft>
                <a:spcPts val="1800"/>
              </a:spcAft>
            </a:pPr>
            <a:endParaRPr sz="2000" dirty="0">
              <a:solidFill>
                <a:srgbClr val="262626"/>
              </a:solidFill>
              <a:latin typeface="Times New Roman"/>
            </a:endParaRPr>
          </a:p>
        </p:txBody>
      </p:sp>
      <p:sp>
        <p:nvSpPr>
          <p:cNvPr id="15" name="Text 6"/>
          <p:cNvSpPr/>
          <p:nvPr/>
        </p:nvSpPr>
        <p:spPr>
          <a:xfrm>
            <a:off x="502920" y="94451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</a:rPr>
              <a:t>A strong database baseline—with clear next steps</a:t>
            </a:r>
            <a:endParaRPr lang="en-US" sz="2600" dirty="0"/>
          </a:p>
        </p:txBody>
      </p:sp>
      <p:sp>
        <p:nvSpPr>
          <p:cNvPr id="16" name="Shape 7"/>
          <p:cNvSpPr/>
          <p:nvPr/>
        </p:nvSpPr>
        <p:spPr>
          <a:xfrm>
            <a:off x="567813" y="1408623"/>
            <a:ext cx="7802880" cy="1920240"/>
          </a:xfrm>
          <a:prstGeom prst="roundRect">
            <a:avLst>
              <a:gd name="adj" fmla="val 2857"/>
            </a:avLst>
          </a:prstGeom>
          <a:solidFill>
            <a:srgbClr val="E8F5F2"/>
          </a:solidFill>
          <a:ln w="10160">
            <a:solidFill>
              <a:srgbClr val="D7E0E7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8"/>
          <p:cNvSpPr/>
          <p:nvPr/>
        </p:nvSpPr>
        <p:spPr>
          <a:xfrm>
            <a:off x="502920" y="1417320"/>
            <a:ext cx="73152" cy="1920240"/>
          </a:xfrm>
          <a:prstGeom prst="rect">
            <a:avLst/>
          </a:prstGeom>
          <a:solidFill>
            <a:srgbClr val="168C86"/>
          </a:solidFill>
          <a:ln w="12700">
            <a:solidFill>
              <a:srgbClr val="168C86"/>
            </a:solidFill>
            <a:prstDash val="solid"/>
          </a:ln>
        </p:spPr>
      </p:sp>
      <p:sp>
        <p:nvSpPr>
          <p:cNvPr id="18" name="Text 9"/>
          <p:cNvSpPr/>
          <p:nvPr/>
        </p:nvSpPr>
        <p:spPr>
          <a:xfrm>
            <a:off x="704088" y="1563624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What the project establishes</a:t>
            </a:r>
            <a:endParaRPr lang="en-US" sz="1500" dirty="0"/>
          </a:p>
        </p:txBody>
      </p:sp>
      <p:sp>
        <p:nvSpPr>
          <p:cNvPr id="19" name="Text 10"/>
          <p:cNvSpPr/>
          <p:nvPr/>
        </p:nvSpPr>
        <p:spPr>
          <a:xfrm>
            <a:off x="704088" y="1892808"/>
            <a:ext cx="70683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313F"/>
                </a:solidFill>
              </a:rPr>
              <a:t>Eight linked entities, normalized design principles, schema-level validation, representative sample data, and a broad SQL query set for reporting and controlled updates.</a:t>
            </a:r>
            <a:endParaRPr lang="en-US" sz="2000" dirty="0"/>
          </a:p>
        </p:txBody>
      </p:sp>
      <p:sp>
        <p:nvSpPr>
          <p:cNvPr id="22" name="Text 13"/>
          <p:cNvSpPr/>
          <p:nvPr/>
        </p:nvSpPr>
        <p:spPr>
          <a:xfrm>
            <a:off x="5001768" y="1563624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3" name="Text 14"/>
          <p:cNvSpPr/>
          <p:nvPr/>
        </p:nvSpPr>
        <p:spPr>
          <a:xfrm>
            <a:off x="5001768" y="1892808"/>
            <a:ext cx="34930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4" name="Text 15"/>
          <p:cNvSpPr/>
          <p:nvPr/>
        </p:nvSpPr>
        <p:spPr>
          <a:xfrm>
            <a:off x="548640" y="37033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70" dirty="0">
                <a:solidFill>
                  <a:srgbClr val="F36C21"/>
                </a:solidFill>
              </a:rPr>
              <a:t>FUTURE ENHANCEMENTS</a:t>
            </a:r>
            <a:endParaRPr lang="en-US" sz="1300" dirty="0"/>
          </a:p>
        </p:txBody>
      </p:sp>
      <p:sp>
        <p:nvSpPr>
          <p:cNvPr id="25" name="Text 16"/>
          <p:cNvSpPr/>
          <p:nvPr/>
        </p:nvSpPr>
        <p:spPr>
          <a:xfrm>
            <a:off x="594360" y="4133088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8C86"/>
                </a:solidFill>
              </a:rPr>
              <a:t>01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1033272" y="41330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Complete supporting tables</a:t>
            </a:r>
            <a:endParaRPr lang="en-US" sz="1150" dirty="0"/>
          </a:p>
        </p:txBody>
      </p:sp>
      <p:sp>
        <p:nvSpPr>
          <p:cNvPr id="27" name="Text 18"/>
          <p:cNvSpPr/>
          <p:nvPr/>
        </p:nvSpPr>
        <p:spPr>
          <a:xfrm>
            <a:off x="3383280" y="4133088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8C86"/>
                </a:solidFill>
              </a:rPr>
              <a:t>02</a:t>
            </a:r>
            <a:endParaRPr lang="en-US" sz="1400" dirty="0"/>
          </a:p>
        </p:txBody>
      </p:sp>
      <p:sp>
        <p:nvSpPr>
          <p:cNvPr id="28" name="Text 19"/>
          <p:cNvSpPr/>
          <p:nvPr/>
        </p:nvSpPr>
        <p:spPr>
          <a:xfrm>
            <a:off x="3822192" y="41330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Add payments and shipment tracking</a:t>
            </a:r>
            <a:endParaRPr lang="en-US" sz="1150" dirty="0"/>
          </a:p>
        </p:txBody>
      </p:sp>
      <p:sp>
        <p:nvSpPr>
          <p:cNvPr id="29" name="Text 20"/>
          <p:cNvSpPr/>
          <p:nvPr/>
        </p:nvSpPr>
        <p:spPr>
          <a:xfrm>
            <a:off x="6172200" y="4133088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8C86"/>
                </a:solidFill>
              </a:rPr>
              <a:t>03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6611112" y="41330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Create views for derived totals</a:t>
            </a:r>
            <a:endParaRPr lang="en-US" sz="1150" dirty="0"/>
          </a:p>
        </p:txBody>
      </p:sp>
      <p:sp>
        <p:nvSpPr>
          <p:cNvPr id="31" name="Text 22"/>
          <p:cNvSpPr/>
          <p:nvPr/>
        </p:nvSpPr>
        <p:spPr>
          <a:xfrm>
            <a:off x="594360" y="5047488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8C86"/>
                </a:solidFill>
              </a:rPr>
              <a:t>04</a:t>
            </a:r>
            <a:endParaRPr lang="en-US" sz="1400" dirty="0"/>
          </a:p>
        </p:txBody>
      </p:sp>
      <p:sp>
        <p:nvSpPr>
          <p:cNvPr id="32" name="Text 23"/>
          <p:cNvSpPr/>
          <p:nvPr/>
        </p:nvSpPr>
        <p:spPr>
          <a:xfrm>
            <a:off x="1033272" y="50474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Add audit history and role permissions</a:t>
            </a:r>
            <a:endParaRPr lang="en-US" sz="1150" dirty="0"/>
          </a:p>
        </p:txBody>
      </p:sp>
      <p:sp>
        <p:nvSpPr>
          <p:cNvPr id="33" name="Text 24"/>
          <p:cNvSpPr/>
          <p:nvPr/>
        </p:nvSpPr>
        <p:spPr>
          <a:xfrm>
            <a:off x="3383280" y="5047488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8C86"/>
                </a:solidFill>
              </a:rPr>
              <a:t>05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3822192" y="50474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</a:rPr>
              <a:t>Complete test evidence and repository record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2881</TotalTime>
  <Words>756</Words>
  <Application>Microsoft Office PowerPoint</Application>
  <PresentationFormat>Custom</PresentationFormat>
  <Paragraphs>185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Arial</vt:lpstr>
      <vt:lpstr>Calibri</vt:lpstr>
      <vt:lpstr>Cambria</vt:lpstr>
      <vt:lpstr>Courier New</vt:lpstr>
      <vt:lpstr>MS Mincho</vt:lpstr>
      <vt:lpstr>Palatino Linotype</vt:lpstr>
      <vt:lpstr>Times New Roman</vt:lpstr>
      <vt:lpstr>Office Theme</vt:lpstr>
      <vt:lpstr>Database Management Systems Cornerstone Project Final Review (Review I &amp; II)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sahithi</cp:lastModifiedBy>
  <cp:revision>66</cp:revision>
  <cp:lastPrinted>2025-10-14T18:21:49Z</cp:lastPrinted>
  <dcterms:created xsi:type="dcterms:W3CDTF">2025-10-10T08:28:06Z</dcterms:created>
  <dcterms:modified xsi:type="dcterms:W3CDTF">2026-09-27T19:59:38Z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